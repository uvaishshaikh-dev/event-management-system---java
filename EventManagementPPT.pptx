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  <p:sldId id="261" r:id="rId5"/>
    <p:sldId id="27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58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1933" y="164572"/>
            <a:ext cx="5300133" cy="1261532"/>
          </a:xfrm>
        </p:spPr>
        <p:txBody>
          <a:bodyPr>
            <a:normAutofit fontScale="90000"/>
          </a:bodyPr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Online Event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77535"/>
            <a:ext cx="7332133" cy="2934230"/>
          </a:xfrm>
        </p:spPr>
        <p:txBody>
          <a:bodyPr>
            <a:normAutofit fontScale="70000" lnSpcReduction="20000"/>
          </a:bodyPr>
          <a:lstStyle/>
          <a:p>
            <a:pPr>
              <a:defRPr sz="2200">
                <a:solidFill>
                  <a:srgbClr val="202124"/>
                </a:solidFill>
                <a:latin typeface="Arial"/>
              </a:defRPr>
            </a:pPr>
            <a:r>
              <a:rPr lang="en-IN" sz="3100" dirty="0"/>
              <a:t>PRESENTED BY :</a:t>
            </a:r>
          </a:p>
          <a:p>
            <a:pPr marL="0" indent="0">
              <a:buNone/>
              <a:defRPr sz="2200">
                <a:solidFill>
                  <a:srgbClr val="202124"/>
                </a:solidFill>
                <a:latin typeface="Arial"/>
              </a:defRPr>
            </a:pPr>
            <a:r>
              <a:rPr lang="en-IN" sz="3100" dirty="0"/>
              <a:t>     </a:t>
            </a:r>
            <a:r>
              <a:rPr lang="en-IN" sz="2600" dirty="0"/>
              <a:t>Kushagra Singh Bohra (c) : 24scse1410267</a:t>
            </a:r>
          </a:p>
          <a:p>
            <a:pPr marL="0" indent="0">
              <a:buNone/>
              <a:defRPr sz="2200">
                <a:solidFill>
                  <a:srgbClr val="202124"/>
                </a:solidFill>
                <a:latin typeface="Arial"/>
              </a:defRPr>
            </a:pPr>
            <a:r>
              <a:rPr lang="en-IN" sz="2600" dirty="0"/>
              <a:t>      Mohammad Uvaish shekh : 24scse1410303</a:t>
            </a:r>
          </a:p>
          <a:p>
            <a:pPr marL="0" indent="0">
              <a:buNone/>
              <a:defRPr sz="2200">
                <a:solidFill>
                  <a:srgbClr val="202124"/>
                </a:solidFill>
                <a:latin typeface="Arial"/>
              </a:defRPr>
            </a:pPr>
            <a:endParaRPr dirty="0"/>
          </a:p>
          <a:p>
            <a:pPr>
              <a:defRPr sz="2200">
                <a:solidFill>
                  <a:srgbClr val="202124"/>
                </a:solidFill>
                <a:latin typeface="Arial"/>
              </a:defRPr>
            </a:pPr>
            <a:r>
              <a:rPr sz="3100" dirty="0"/>
              <a:t>Course: </a:t>
            </a:r>
            <a:r>
              <a:rPr lang="en-IN" sz="3100" dirty="0"/>
              <a:t>B.Tech in Cse with Artificial Intelligence</a:t>
            </a:r>
          </a:p>
          <a:p>
            <a:pPr>
              <a:defRPr sz="2200">
                <a:solidFill>
                  <a:srgbClr val="202124"/>
                </a:solidFill>
                <a:latin typeface="Arial"/>
              </a:defRPr>
            </a:pPr>
            <a:endParaRPr dirty="0"/>
          </a:p>
          <a:p>
            <a:pPr>
              <a:defRPr sz="2200">
                <a:solidFill>
                  <a:srgbClr val="202124"/>
                </a:solidFill>
                <a:latin typeface="Arial"/>
              </a:defRPr>
            </a:pPr>
            <a:r>
              <a:rPr sz="3100" dirty="0"/>
              <a:t>Java Swing + MySQL Application</a:t>
            </a:r>
          </a:p>
          <a:p>
            <a:pPr>
              <a:defRPr sz="2200">
                <a:solidFill>
                  <a:srgbClr val="202124"/>
                </a:solidFill>
                <a:latin typeface="Arial"/>
              </a:defRPr>
            </a:pPr>
            <a:endParaRPr dirty="0"/>
          </a:p>
          <a:p>
            <a:pPr>
              <a:defRPr sz="2200">
                <a:solidFill>
                  <a:srgbClr val="202124"/>
                </a:solidFill>
                <a:latin typeface="Arial"/>
              </a:defRPr>
            </a:pPr>
            <a:r>
              <a:rPr sz="3100" dirty="0"/>
              <a:t>Summary: A desktop app for booking and managing event details.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chemeClr val="accent4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Automate event booking:</a:t>
            </a:r>
            <a:r>
              <a:rPr lang="en-US" dirty="0"/>
              <a:t> Streamlines the entire event reservation process.</a:t>
            </a:r>
          </a:p>
          <a:p>
            <a:r>
              <a:rPr lang="en-US" b="1" dirty="0"/>
              <a:t>Manage customers:</a:t>
            </a:r>
            <a:r>
              <a:rPr lang="en-US" dirty="0"/>
              <a:t> Handles customer details with validation and easy retrieval.</a:t>
            </a:r>
          </a:p>
          <a:p>
            <a:r>
              <a:rPr lang="en-US" b="1" dirty="0"/>
              <a:t>Provide event scheduling:</a:t>
            </a:r>
            <a:r>
              <a:rPr lang="en-US" dirty="0"/>
              <a:t> Allows users to choose event types and enter event-specific information.</a:t>
            </a:r>
          </a:p>
          <a:p>
            <a:r>
              <a:rPr lang="en-US" b="1" dirty="0"/>
              <a:t>Simulate payment:</a:t>
            </a:r>
            <a:r>
              <a:rPr lang="en-US" dirty="0"/>
              <a:t> Includes a simple payment-processing workflow for confirmation.</a:t>
            </a:r>
          </a:p>
          <a:p>
            <a:r>
              <a:rPr lang="en-US" b="1" dirty="0"/>
              <a:t>Secure storage:</a:t>
            </a:r>
            <a:r>
              <a:rPr lang="en-US" dirty="0"/>
              <a:t> Stores all event and customer data safely using MySQL and JDBC.</a:t>
            </a:r>
          </a:p>
          <a:p>
            <a:endParaRPr lang="en-US" dirty="0"/>
          </a:p>
          <a:p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Ensures smooth event planning, efficient user management, and secure data handling throughout the booking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dkHorz">
          <a:fgClr>
            <a:schemeClr val="accent6">
              <a:lumMod val="40000"/>
              <a:lumOff val="60000"/>
            </a:schemeClr>
          </a:fgClr>
          <a:bgClr>
            <a:schemeClr val="accent4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System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" y="16002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Java Swing UI:</a:t>
            </a:r>
            <a:r>
              <a:rPr lang="en-US" dirty="0"/>
              <a:t> Provides an interactive and user-friendly desktop interface for event booking.</a:t>
            </a:r>
          </a:p>
          <a:p>
            <a:r>
              <a:rPr lang="en-US" b="1" dirty="0"/>
              <a:t>MySQL Storage:</a:t>
            </a:r>
            <a:r>
              <a:rPr lang="en-US" dirty="0"/>
              <a:t> Stores customer, event, and payment details in a structured and reliable database.</a:t>
            </a:r>
          </a:p>
          <a:p>
            <a:r>
              <a:rPr lang="en-US" b="1" dirty="0"/>
              <a:t>OOP Architecture:</a:t>
            </a:r>
            <a:r>
              <a:rPr lang="en-US" dirty="0"/>
              <a:t> System is built using classes such as </a:t>
            </a:r>
            <a:r>
              <a:rPr lang="en-US" i="1" dirty="0"/>
              <a:t>Customer, Event, Payment,</a:t>
            </a:r>
            <a:r>
              <a:rPr lang="en-US" dirty="0"/>
              <a:t> and </a:t>
            </a:r>
            <a:r>
              <a:rPr lang="en-US" i="1" dirty="0"/>
              <a:t>Database Manager</a:t>
            </a:r>
            <a:r>
              <a:rPr lang="en-US" dirty="0"/>
              <a:t> to maintain modularity and reusability.</a:t>
            </a:r>
          </a:p>
          <a:p>
            <a:r>
              <a:rPr lang="en-US" b="1" dirty="0"/>
              <a:t>Automatic Schema Creation:</a:t>
            </a:r>
            <a:r>
              <a:rPr lang="en-US" dirty="0"/>
              <a:t> On first launch, the system creates required tables automatically, reducing manual setup.</a:t>
            </a:r>
          </a:p>
          <a:p>
            <a:endParaRPr lang="en-US" dirty="0"/>
          </a:p>
          <a:p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A modular, scalable system built with strong OOP principles and efficient Java–MySQL integration to ensure smooth event management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8"/>
            <a:ext cx="8229600" cy="1143000"/>
          </a:xfrm>
        </p:spPr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00705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1. Customer Module</a:t>
            </a:r>
            <a:endParaRPr lang="en-US" sz="1400" dirty="0"/>
          </a:p>
          <a:p>
            <a:r>
              <a:rPr lang="en-US" sz="1400" dirty="0"/>
              <a:t>Capture customer information</a:t>
            </a:r>
          </a:p>
          <a:p>
            <a:r>
              <a:rPr lang="en-US" sz="1400" dirty="0"/>
              <a:t>Validate phone number and basic details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2. Event Module</a:t>
            </a:r>
            <a:endParaRPr lang="en-US" sz="1400" dirty="0"/>
          </a:p>
          <a:p>
            <a:r>
              <a:rPr lang="en-US" sz="1400" dirty="0"/>
              <a:t>Select an event type</a:t>
            </a:r>
          </a:p>
          <a:p>
            <a:r>
              <a:rPr lang="en-US" sz="1400" dirty="0"/>
              <a:t>Fill event-specific forms and requirements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3. Payment Module</a:t>
            </a:r>
            <a:endParaRPr lang="en-US" sz="1400" dirty="0"/>
          </a:p>
          <a:p>
            <a:r>
              <a:rPr lang="en-US" sz="1400" dirty="0"/>
              <a:t>Perform simulated payment process</a:t>
            </a:r>
          </a:p>
          <a:p>
            <a:r>
              <a:rPr lang="en-US" sz="1400" dirty="0"/>
              <a:t>Display booking confirmation to the user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4. Database Module</a:t>
            </a:r>
            <a:endParaRPr lang="en-US" sz="1400" dirty="0"/>
          </a:p>
          <a:p>
            <a:r>
              <a:rPr lang="en-US" sz="1400" dirty="0"/>
              <a:t>Store customer information</a:t>
            </a:r>
          </a:p>
          <a:p>
            <a:r>
              <a:rPr lang="en-US" sz="1400" dirty="0"/>
              <a:t>Save event booking details</a:t>
            </a:r>
          </a:p>
          <a:p>
            <a:r>
              <a:rPr lang="en-US" sz="1400" dirty="0"/>
              <a:t>Update payment status in the database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Summary:</a:t>
            </a:r>
            <a:br>
              <a:rPr lang="en-US" sz="1400" dirty="0"/>
            </a:br>
            <a:r>
              <a:rPr lang="en-US" sz="1400" dirty="0"/>
              <a:t>Each module performs a dedicated function, ensuring clear separation of responsibilities and smooth system workflow.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84FE8-C7D1-2844-73D6-D3CBCFC08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241" y="1163638"/>
            <a:ext cx="4854045" cy="206798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BB592-63C5-337A-819A-7D48B73AE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240" y="3626380"/>
            <a:ext cx="4854045" cy="22764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E84B-1BC7-D99F-503C-81EA38976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7733" y="1176867"/>
            <a:ext cx="5842000" cy="4331229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Establishes a stable connection</a:t>
            </a:r>
            <a:r>
              <a:rPr lang="en-US" sz="1800" dirty="0"/>
              <a:t> between the Java application and the MySQL database using the JDBC driver.</a:t>
            </a:r>
          </a:p>
          <a:p>
            <a:r>
              <a:rPr lang="en-US" sz="1800" b="1" dirty="0"/>
              <a:t>Executes SQL operations</a:t>
            </a:r>
            <a:r>
              <a:rPr lang="en-US" sz="1800" dirty="0"/>
              <a:t>, including INSERT, UPDATE, DELETE, and SELECT, to manage all event and customer records.</a:t>
            </a:r>
          </a:p>
          <a:p>
            <a:r>
              <a:rPr lang="en-US" sz="1800" dirty="0"/>
              <a:t>Uses </a:t>
            </a:r>
            <a:r>
              <a:rPr lang="en-US" sz="1800" b="1" dirty="0"/>
              <a:t>Connection, Statement, and PreparedStatement</a:t>
            </a:r>
            <a:r>
              <a:rPr lang="en-US" sz="1800" dirty="0"/>
              <a:t> classes for secure and efficient database interactions.</a:t>
            </a:r>
          </a:p>
          <a:p>
            <a:r>
              <a:rPr lang="en-US" sz="1800" b="1" dirty="0"/>
              <a:t>Manages data flow safely</a:t>
            </a:r>
            <a:r>
              <a:rPr lang="en-US" sz="1800" dirty="0"/>
              <a:t> by opening connections only when needed and closing them properly to avoid resource leaks.</a:t>
            </a:r>
          </a:p>
          <a:p>
            <a:r>
              <a:rPr lang="en-US" sz="1800" dirty="0"/>
              <a:t>Provides </a:t>
            </a:r>
            <a:r>
              <a:rPr lang="en-US" sz="1800" b="1" dirty="0"/>
              <a:t>exception handling through SQLException</a:t>
            </a:r>
            <a:r>
              <a:rPr lang="en-US" sz="1800" dirty="0"/>
              <a:t>, ensuring the system stays reliable even during database errors.</a:t>
            </a:r>
            <a:br>
              <a:rPr lang="en-US" sz="1800" dirty="0"/>
            </a:br>
            <a:endParaRPr lang="en-US" sz="1800" dirty="0"/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FACFC5-8F42-08E0-1713-99E42732B9EF}"/>
              </a:ext>
            </a:extLst>
          </p:cNvPr>
          <p:cNvSpPr txBox="1">
            <a:spLocks/>
          </p:cNvSpPr>
          <p:nvPr/>
        </p:nvSpPr>
        <p:spPr>
          <a:xfrm>
            <a:off x="270934" y="4180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lang="en-IN" sz="3800" dirty="0">
                <a:solidFill>
                  <a:srgbClr val="4285F4"/>
                </a:solidFill>
                <a:latin typeface="Algerian" panose="04020705040A02060702" pitchFamily="82" charset="0"/>
              </a:rPr>
              <a:t>JDBC connectivity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4AB83-317E-5CC1-F88E-15BD5D0C184E}"/>
              </a:ext>
            </a:extLst>
          </p:cNvPr>
          <p:cNvSpPr txBox="1"/>
          <p:nvPr/>
        </p:nvSpPr>
        <p:spPr>
          <a:xfrm>
            <a:off x="78315" y="5184930"/>
            <a:ext cx="9277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Summary:</a:t>
            </a:r>
          </a:p>
          <a:p>
            <a:pPr marL="0" indent="0">
              <a:buNone/>
            </a:pPr>
            <a:r>
              <a:rPr lang="en-US" sz="1800" dirty="0"/>
              <a:t>JDBC enables smooth and secure communication between the application and the database, making data storage, retrieval, and management efficient and reliable.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022E94-599F-63E0-AFC9-0659DA13B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00" y="1493879"/>
            <a:ext cx="3378200" cy="284233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0273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6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6322"/>
            <a:ext cx="8229600" cy="1143000"/>
          </a:xfrm>
        </p:spPr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26142"/>
            <a:ext cx="5731933" cy="3108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gency FB" panose="020B0503020202020204" pitchFamily="34" charset="0"/>
              </a:rPr>
              <a:t>TABLES :</a:t>
            </a:r>
          </a:p>
          <a:p>
            <a:r>
              <a:rPr lang="en-US" sz="1800" b="1" dirty="0"/>
              <a:t>customers</a:t>
            </a:r>
            <a:r>
              <a:rPr lang="en-US" sz="1800" dirty="0"/>
              <a:t> – stores user information</a:t>
            </a:r>
          </a:p>
          <a:p>
            <a:r>
              <a:rPr lang="en-US" sz="1800" b="1" dirty="0"/>
              <a:t>bookings</a:t>
            </a:r>
            <a:r>
              <a:rPr lang="en-US" sz="1800" dirty="0"/>
              <a:t> – stores event booking details</a:t>
            </a:r>
          </a:p>
          <a:p>
            <a:r>
              <a:rPr lang="en-US" sz="1800" b="1" dirty="0"/>
              <a:t>Key Fields:</a:t>
            </a:r>
          </a:p>
          <a:p>
            <a:r>
              <a:rPr lang="en-US" sz="1800" b="1" dirty="0"/>
              <a:t>Attributes :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    customers:</a:t>
            </a:r>
            <a:r>
              <a:rPr lang="en-US" sz="1800" dirty="0"/>
              <a:t> id, name, phone, address</a:t>
            </a:r>
          </a:p>
          <a:p>
            <a:pPr marL="0" indent="0">
              <a:buNone/>
            </a:pPr>
            <a:r>
              <a:rPr lang="en-US" sz="1800" i="1" dirty="0"/>
              <a:t>    bookings:</a:t>
            </a:r>
            <a:r>
              <a:rPr lang="en-US" sz="1800" dirty="0"/>
              <a:t> event_type, date, time, venue</a:t>
            </a:r>
          </a:p>
          <a:p>
            <a:pPr marL="0" indent="0">
              <a:buNone/>
            </a:pPr>
            <a:r>
              <a:rPr lang="en-US" sz="1800" i="1" dirty="0"/>
              <a:t>    bookings:</a:t>
            </a:r>
            <a:r>
              <a:rPr lang="en-US" sz="1800" dirty="0"/>
              <a:t> price, extra_details, customer_id (foreign key)</a:t>
            </a:r>
          </a:p>
          <a:p>
            <a:pPr marL="0" indent="0">
              <a:buNone/>
            </a:pPr>
            <a:endParaRPr lang="en-US" sz="2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5E0A5-78FD-6174-866E-E3181FEEF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733" y="1495954"/>
            <a:ext cx="3242734" cy="16478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B93F2E-E945-D6DB-2B26-23BD0A710191}"/>
              </a:ext>
            </a:extLst>
          </p:cNvPr>
          <p:cNvSpPr txBox="1"/>
          <p:nvPr/>
        </p:nvSpPr>
        <p:spPr>
          <a:xfrm>
            <a:off x="84666" y="5147733"/>
            <a:ext cx="68177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Two relational tables maintain all customer data and link each booking using a foreign key for proper database integrity.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68430D-D16A-B8F3-71F2-63A7F5AF1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733" y="3452283"/>
            <a:ext cx="3242734" cy="17716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867" y="16002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Java:</a:t>
            </a:r>
            <a:r>
              <a:rPr lang="en-US" dirty="0"/>
              <a:t> Core programming language used to build the entire system</a:t>
            </a:r>
          </a:p>
          <a:p>
            <a:r>
              <a:rPr lang="en-US" b="1" dirty="0"/>
              <a:t>Java Swing:</a:t>
            </a:r>
            <a:r>
              <a:rPr lang="en-US" dirty="0"/>
              <a:t> Provides the graphical user interface (GUI) for user interaction</a:t>
            </a:r>
          </a:p>
          <a:p>
            <a:r>
              <a:rPr lang="en-US" b="1" dirty="0"/>
              <a:t>JDBC:</a:t>
            </a:r>
            <a:r>
              <a:rPr lang="en-US" dirty="0"/>
              <a:t> Enables seamless connection between the application and the database</a:t>
            </a:r>
          </a:p>
          <a:p>
            <a:r>
              <a:rPr lang="en-US" b="1" dirty="0"/>
              <a:t>MySQL:</a:t>
            </a:r>
            <a:r>
              <a:rPr lang="en-US" dirty="0"/>
              <a:t> Stores customer, event, and payment data</a:t>
            </a:r>
          </a:p>
          <a:p>
            <a:r>
              <a:rPr lang="en-US" b="1" dirty="0"/>
              <a:t>OOP:</a:t>
            </a:r>
            <a:r>
              <a:rPr lang="en-US" dirty="0"/>
              <a:t> Ensures modular, maintainable, and extensible code structure</a:t>
            </a:r>
          </a:p>
          <a:p>
            <a:r>
              <a:rPr lang="en-US" b="1" dirty="0"/>
              <a:t>Multi-threading:</a:t>
            </a:r>
            <a:r>
              <a:rPr lang="en-US" dirty="0"/>
              <a:t> Used to simulate payment delay and improve responsiveness</a:t>
            </a:r>
          </a:p>
          <a:p>
            <a:endParaRPr lang="en-US" dirty="0"/>
          </a:p>
          <a:p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Java OOP, JDBC, and MySQL together ensure a stable, structured, and scalable event management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9316" y="334371"/>
            <a:ext cx="48301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OOP Class Diagram </a:t>
            </a:r>
          </a:p>
        </p:txBody>
      </p:sp>
      <p:sp>
        <p:nvSpPr>
          <p:cNvPr id="9" name="AutoShape 2" descr="Generated image">
            <a:extLst>
              <a:ext uri="{FF2B5EF4-FFF2-40B4-BE49-F238E27FC236}">
                <a16:creationId xmlns:a16="http://schemas.microsoft.com/office/drawing/2014/main" id="{56404E9B-986F-ADB4-7094-AB165B9477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Generated image">
            <a:extLst>
              <a:ext uri="{FF2B5EF4-FFF2-40B4-BE49-F238E27FC236}">
                <a16:creationId xmlns:a16="http://schemas.microsoft.com/office/drawing/2014/main" id="{C38B8654-CD34-8874-9DF5-8A335B28F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1210733" cy="121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Generated image">
            <a:extLst>
              <a:ext uri="{FF2B5EF4-FFF2-40B4-BE49-F238E27FC236}">
                <a16:creationId xmlns:a16="http://schemas.microsoft.com/office/drawing/2014/main" id="{08863305-A1B3-073B-9DF4-F168D41229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8" descr="Generated image">
            <a:extLst>
              <a:ext uri="{FF2B5EF4-FFF2-40B4-BE49-F238E27FC236}">
                <a16:creationId xmlns:a16="http://schemas.microsoft.com/office/drawing/2014/main" id="{EB8005C6-F3EC-ECAA-1D1B-8E17B5E200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E0C787-9627-2665-42E7-5554ACDBD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80"/>
          <a:stretch>
            <a:fillRect/>
          </a:stretch>
        </p:blipFill>
        <p:spPr>
          <a:xfrm>
            <a:off x="572249" y="1253067"/>
            <a:ext cx="7694702" cy="4961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4270" y="312356"/>
            <a:ext cx="722345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Workflow of the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535" y="1554479"/>
            <a:ext cx="2560320" cy="914400"/>
          </a:xfrm>
          <a:prstGeom prst="rect">
            <a:avLst/>
          </a:prstGeom>
          <a:solidFill>
            <a:srgbClr val="4285F4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rPr dirty="0"/>
              <a:t>Enter Customer</a:t>
            </a:r>
          </a:p>
          <a:p>
            <a:pPr algn="ctr"/>
            <a:r>
              <a:rPr dirty="0"/>
              <a:t>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73643" y="1522306"/>
            <a:ext cx="2560320" cy="914400"/>
          </a:xfrm>
          <a:prstGeom prst="rect">
            <a:avLst/>
          </a:prstGeom>
          <a:solidFill>
            <a:srgbClr val="34A853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rPr dirty="0"/>
              <a:t>Select Event</a:t>
            </a:r>
          </a:p>
          <a:p>
            <a:pPr algn="ctr"/>
            <a:r>
              <a:rPr dirty="0"/>
              <a:t>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0480" y="3288455"/>
            <a:ext cx="2560320" cy="914400"/>
          </a:xfrm>
          <a:prstGeom prst="rect">
            <a:avLst/>
          </a:prstGeom>
          <a:solidFill>
            <a:srgbClr val="EA4335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rPr dirty="0"/>
              <a:t>Fill Event</a:t>
            </a:r>
          </a:p>
          <a:p>
            <a:pPr algn="ctr"/>
            <a:r>
              <a:rPr dirty="0"/>
              <a:t>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535" y="5303521"/>
            <a:ext cx="2560320" cy="914400"/>
          </a:xfrm>
          <a:prstGeom prst="rect">
            <a:avLst/>
          </a:prstGeom>
          <a:solidFill>
            <a:srgbClr val="202124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rPr dirty="0"/>
              <a:t>Payment</a:t>
            </a:r>
          </a:p>
          <a:p>
            <a:pPr algn="ctr"/>
            <a:r>
              <a:rPr dirty="0"/>
              <a:t>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3643" y="5289974"/>
            <a:ext cx="2560320" cy="914400"/>
          </a:xfrm>
          <a:prstGeom prst="rect">
            <a:avLst/>
          </a:prstGeom>
          <a:solidFill>
            <a:srgbClr val="4285F4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rPr dirty="0"/>
              <a:t>Confirmation</a:t>
            </a:r>
          </a:p>
          <a:p>
            <a:pPr algn="ctr"/>
            <a:r>
              <a:rPr dirty="0"/>
              <a:t>Receipt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2578F64-E35D-A45A-EA8A-C1E52FD75EAA}"/>
              </a:ext>
            </a:extLst>
          </p:cNvPr>
          <p:cNvSpPr/>
          <p:nvPr/>
        </p:nvSpPr>
        <p:spPr>
          <a:xfrm>
            <a:off x="2960582" y="1837265"/>
            <a:ext cx="931333" cy="314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FB15395C-6175-889A-F1D0-53AE0DC3B7CA}"/>
              </a:ext>
            </a:extLst>
          </p:cNvPr>
          <p:cNvSpPr/>
          <p:nvPr/>
        </p:nvSpPr>
        <p:spPr>
          <a:xfrm rot="5400000">
            <a:off x="6917267" y="2011679"/>
            <a:ext cx="1286933" cy="914400"/>
          </a:xfrm>
          <a:prstGeom prst="bentArrow">
            <a:avLst>
              <a:gd name="adj1" fmla="val 25000"/>
              <a:gd name="adj2" fmla="val 26389"/>
              <a:gd name="adj3" fmla="val 25000"/>
              <a:gd name="adj4" fmla="val 4375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E57851C-3844-00D5-0197-EEDB6BC08D69}"/>
              </a:ext>
            </a:extLst>
          </p:cNvPr>
          <p:cNvSpPr/>
          <p:nvPr/>
        </p:nvSpPr>
        <p:spPr>
          <a:xfrm rot="10800000">
            <a:off x="2960582" y="5625252"/>
            <a:ext cx="931333" cy="314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E459F6C2-483C-18B9-7001-A5F0AE887267}"/>
              </a:ext>
            </a:extLst>
          </p:cNvPr>
          <p:cNvSpPr/>
          <p:nvPr/>
        </p:nvSpPr>
        <p:spPr>
          <a:xfrm rot="10800000">
            <a:off x="7015689" y="4842933"/>
            <a:ext cx="1002244" cy="1256454"/>
          </a:xfrm>
          <a:prstGeom prst="bentArrow">
            <a:avLst>
              <a:gd name="adj1" fmla="val 19445"/>
              <a:gd name="adj2" fmla="val 26389"/>
              <a:gd name="adj3" fmla="val 25000"/>
              <a:gd name="adj4" fmla="val 4375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467" y="1329266"/>
            <a:ext cx="8229600" cy="4525963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OOP event handling</a:t>
            </a:r>
            <a:br>
              <a:rPr lang="en-US" sz="6400" dirty="0"/>
            </a:br>
            <a:r>
              <a:rPr lang="en-US" sz="6400" dirty="0"/>
              <a:t>Uses object-oriented principles to manage different event types, ensuring clean separation of logic and easy scalability when adding new features.</a:t>
            </a:r>
          </a:p>
          <a:p>
            <a:r>
              <a:rPr lang="en-US" sz="6400" b="1" dirty="0"/>
              <a:t>Reusable Event superclass</a:t>
            </a:r>
            <a:br>
              <a:rPr lang="en-US" sz="6400" dirty="0"/>
            </a:br>
            <a:r>
              <a:rPr lang="en-US" sz="6400" dirty="0"/>
              <a:t>A common parent class defines core properties and methods, allowing all event types to inherit shared functionality and avoid code duplication.</a:t>
            </a:r>
          </a:p>
          <a:p>
            <a:r>
              <a:rPr lang="en-US" sz="6400" b="1" dirty="0"/>
              <a:t>Auto DB schema</a:t>
            </a:r>
            <a:br>
              <a:rPr lang="en-US" sz="6400" dirty="0"/>
            </a:br>
            <a:r>
              <a:rPr lang="en-US" sz="6400" dirty="0"/>
              <a:t>The system automatically creates the required database tables on startup, reducing manual setup effort and preventing schema-related errors.</a:t>
            </a:r>
          </a:p>
          <a:p>
            <a:r>
              <a:rPr lang="en-US" sz="6400" b="1" dirty="0"/>
              <a:t>Input validation</a:t>
            </a:r>
            <a:br>
              <a:rPr lang="en-US" sz="6400" dirty="0"/>
            </a:br>
            <a:r>
              <a:rPr lang="en-US" sz="6400" dirty="0"/>
              <a:t>Ensures that customer details, dates, phone numbers, and event information are correct and safe before processing, improving reliability.</a:t>
            </a:r>
          </a:p>
          <a:p>
            <a:r>
              <a:rPr lang="en-US" sz="6400" b="1" dirty="0"/>
              <a:t>Payment simulation</a:t>
            </a:r>
            <a:br>
              <a:rPr lang="en-US" sz="6400" dirty="0"/>
            </a:br>
            <a:r>
              <a:rPr lang="en-US" sz="6400" dirty="0"/>
              <a:t>Mimics real-world payment flow using controlled delays and confirmations, helping users understand the experience without integrating a payment gateway.</a:t>
            </a:r>
          </a:p>
          <a:p>
            <a:r>
              <a:rPr lang="en-US" sz="6400" b="1" dirty="0"/>
              <a:t>Persistent storage</a:t>
            </a:r>
            <a:br>
              <a:rPr lang="en-US" sz="6400" dirty="0"/>
            </a:br>
            <a:r>
              <a:rPr lang="en-US" sz="6400" dirty="0"/>
              <a:t>All customer and booking data is stored securely in MySQL using JDBC, ensuring the information remains available even after restarting the application.</a:t>
            </a:r>
          </a:p>
          <a:p>
            <a:endParaRPr lang="en-US" sz="4200" dirty="0"/>
          </a:p>
          <a:p>
            <a:r>
              <a:rPr lang="en-US" sz="8000" b="1" dirty="0"/>
              <a:t>Summary:</a:t>
            </a:r>
            <a:br>
              <a:rPr lang="en-US" sz="8000" dirty="0"/>
            </a:br>
            <a:r>
              <a:rPr lang="en-US" sz="8000" dirty="0"/>
              <a:t>A well-structured, modular design enhances maintainability, simplifies updates, and ensures the system remains robust and scalable as more features are added.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Simple UI:</a:t>
            </a:r>
            <a:r>
              <a:rPr lang="en-US" dirty="0"/>
              <a:t> Clean and easy-to-navigate interface for all users</a:t>
            </a:r>
          </a:p>
          <a:p>
            <a:r>
              <a:rPr lang="en-US" b="1" dirty="0"/>
              <a:t>Modular design:</a:t>
            </a:r>
            <a:r>
              <a:rPr lang="en-US" dirty="0"/>
              <a:t> Each component is separated for better maintenance and clarity</a:t>
            </a:r>
          </a:p>
          <a:p>
            <a:r>
              <a:rPr lang="en-US" b="1" dirty="0"/>
              <a:t>Extensible event types:</a:t>
            </a:r>
            <a:r>
              <a:rPr lang="en-US" dirty="0"/>
              <a:t> New event categories can be added easily using inheritance</a:t>
            </a:r>
          </a:p>
          <a:p>
            <a:r>
              <a:rPr lang="en-US" b="1" dirty="0"/>
              <a:t>Secure database:</a:t>
            </a:r>
            <a:r>
              <a:rPr lang="en-US" dirty="0"/>
              <a:t> Reliable MySQL storage with proper data handling</a:t>
            </a:r>
          </a:p>
          <a:p>
            <a:endParaRPr lang="en-US" dirty="0"/>
          </a:p>
          <a:p>
            <a:r>
              <a:rPr lang="en-US" sz="3600" b="1" dirty="0"/>
              <a:t>Summary:</a:t>
            </a:r>
            <a:br>
              <a:rPr lang="en-US" sz="3600" dirty="0"/>
            </a:br>
            <a:r>
              <a:rPr lang="en-US" sz="3600" dirty="0"/>
              <a:t>The system is beginner-friendly while still offering scalability and flexibility for advanced users and future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rgbClr val="FFFF6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533" y="1634067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2900" b="1" dirty="0"/>
              <a:t>Web-based version:</a:t>
            </a:r>
            <a:r>
              <a:rPr lang="en-US" sz="2900" dirty="0"/>
              <a:t> Expand the system into an online platform accessible from any device</a:t>
            </a:r>
          </a:p>
          <a:p>
            <a:r>
              <a:rPr lang="en-US" sz="2900" b="1" dirty="0"/>
              <a:t>Login system:</a:t>
            </a:r>
            <a:r>
              <a:rPr lang="en-US" sz="2900" dirty="0"/>
              <a:t> Add user authentication for admins and customers</a:t>
            </a:r>
          </a:p>
          <a:p>
            <a:r>
              <a:rPr lang="en-US" sz="2900" b="1" dirty="0"/>
              <a:t>Analytics:</a:t>
            </a:r>
            <a:r>
              <a:rPr lang="en-US" sz="2900" dirty="0"/>
              <a:t> Generate reports on bookings, event trends, and customer activity</a:t>
            </a:r>
          </a:p>
          <a:p>
            <a:r>
              <a:rPr lang="en-US" sz="2900" b="1" dirty="0"/>
              <a:t>Online payment:</a:t>
            </a:r>
            <a:r>
              <a:rPr lang="en-US" sz="2900" dirty="0"/>
              <a:t> Integrate real payment gateways for secure transactions</a:t>
            </a:r>
          </a:p>
          <a:p>
            <a:endParaRPr lang="en-US" dirty="0"/>
          </a:p>
          <a:p>
            <a:r>
              <a:rPr lang="en-US" sz="3300" b="1" dirty="0"/>
              <a:t>Summary:</a:t>
            </a:r>
            <a:br>
              <a:rPr lang="en-US" sz="3300" dirty="0"/>
            </a:br>
            <a:r>
              <a:rPr lang="en-US" sz="3300" dirty="0"/>
              <a:t>These future upgrades can significantly improve usability, scalability, and overall system performance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rgbClr val="F0F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334" y="1532466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600" b="1" dirty="0">
                <a:latin typeface="Agency FB" panose="020B0503020202020204" pitchFamily="34" charset="0"/>
              </a:rPr>
              <a:t>WHAT IT DOES</a:t>
            </a:r>
          </a:p>
          <a:p>
            <a:pPr marL="0" indent="0">
              <a:buNone/>
            </a:pPr>
            <a:endParaRPr lang="en-US" b="1" dirty="0">
              <a:latin typeface="Agency FB" panose="020B0503020202020204" pitchFamily="34" charset="0"/>
            </a:endParaRPr>
          </a:p>
          <a:p>
            <a:r>
              <a:rPr lang="en-US" dirty="0"/>
              <a:t>Collects complete customer information with validation</a:t>
            </a:r>
          </a:p>
          <a:p>
            <a:r>
              <a:rPr lang="en-US" dirty="0"/>
              <a:t>Allows users to choose from multiple event categories</a:t>
            </a:r>
          </a:p>
          <a:p>
            <a:r>
              <a:rPr lang="en-US" dirty="0"/>
              <a:t>Provides tailored event-specific forms for accurate data entry</a:t>
            </a:r>
          </a:p>
          <a:p>
            <a:r>
              <a:rPr lang="en-US" dirty="0"/>
              <a:t>Simulates payment processing with a smooth user workflow</a:t>
            </a:r>
          </a:p>
          <a:p>
            <a:r>
              <a:rPr lang="en-US" dirty="0"/>
              <a:t>Stores all event and user details securely using JDBC–MySQL</a:t>
            </a:r>
          </a:p>
          <a:p>
            <a:r>
              <a:rPr lang="en-US" dirty="0"/>
              <a:t>Fully desktop-based Java application with a simple, intuitive UI</a:t>
            </a:r>
          </a:p>
          <a:p>
            <a:endParaRPr lang="en-US" dirty="0"/>
          </a:p>
          <a:p>
            <a:r>
              <a:rPr lang="en-US" b="1" dirty="0"/>
              <a:t>Summary:</a:t>
            </a:r>
          </a:p>
          <a:p>
            <a:pPr marL="0" indent="0">
              <a:buNone/>
            </a:pPr>
            <a:r>
              <a:rPr lang="en-US" dirty="0"/>
              <a:t>The system offers a streamlined event-booking workflow—guiding   users from registration to event selection, form submission, and payment, ensuring a reliable and structured event management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accent2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4285F4"/>
                </a:solidFill>
                <a:latin typeface="Arial"/>
              </a:defRPr>
            </a:pPr>
            <a:r>
              <a:rPr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5494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The Event Management System is a complete Java-based application designed to simplify event organization, customer management, and payment handling.</a:t>
            </a:r>
            <a:br>
              <a:rPr lang="en-US" sz="2800" dirty="0"/>
            </a:br>
            <a:r>
              <a:rPr lang="en-US" sz="2800" dirty="0"/>
              <a:t>It provides a user-friendly interface, structured modules, and an efficient workflow that guides users from registration to final confirmation.</a:t>
            </a:r>
          </a:p>
          <a:p>
            <a:r>
              <a:rPr lang="en-US" sz="2800" dirty="0"/>
              <a:t>The project demonstrates practical implementation of Java OOP, Swing UI design, JDBC connectivity, and MySQL database integration.</a:t>
            </a:r>
            <a:br>
              <a:rPr lang="en-US" sz="2800" dirty="0"/>
            </a:br>
            <a:r>
              <a:rPr lang="en-US" sz="2800" dirty="0"/>
              <a:t>It highlights how software architecture, inheritance, and modular design can be applied to solve real-world problems.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1124</Words>
  <Application>Microsoft Office PowerPoint</Application>
  <PresentationFormat>On-screen Show (4:3)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Agency FB</vt:lpstr>
      <vt:lpstr>Algerian</vt:lpstr>
      <vt:lpstr>Arial</vt:lpstr>
      <vt:lpstr>Calibri</vt:lpstr>
      <vt:lpstr>Office Theme</vt:lpstr>
      <vt:lpstr>Online Event Management System</vt:lpstr>
      <vt:lpstr>Objectives</vt:lpstr>
      <vt:lpstr>System Description</vt:lpstr>
      <vt:lpstr>System Modules</vt:lpstr>
      <vt:lpstr>PowerPoint Presentation</vt:lpstr>
      <vt:lpstr>Database Design</vt:lpstr>
      <vt:lpstr>Technologies Used</vt:lpstr>
      <vt:lpstr>PowerPoint Presentation</vt:lpstr>
      <vt:lpstr>PowerPoint Presentation</vt:lpstr>
      <vt:lpstr>Key Features</vt:lpstr>
      <vt:lpstr>Advantages</vt:lpstr>
      <vt:lpstr>Future Enhancements</vt:lpstr>
      <vt:lpstr>Project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uvaish shaikh</dc:creator>
  <cp:keywords/>
  <dc:description>generated using python-pptx</dc:description>
  <cp:lastModifiedBy>uvaish shaikh</cp:lastModifiedBy>
  <cp:revision>3</cp:revision>
  <dcterms:created xsi:type="dcterms:W3CDTF">2013-01-27T09:14:16Z</dcterms:created>
  <dcterms:modified xsi:type="dcterms:W3CDTF">2025-11-25T06:13:32Z</dcterms:modified>
  <cp:category/>
</cp:coreProperties>
</file>